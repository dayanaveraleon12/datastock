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7056">
          <p15:clr>
            <a:srgbClr val="A4A3A4"/>
          </p15:clr>
        </p15:guide>
        <p15:guide id="3" orient="horz" pos="31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PZUknAHc/k+LNFLdQab6FCDQd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17F54-713D-AF13-90ED-18B25909EC37}" v="3" dt="2026-02-26T19:36:55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392"/>
        <p:guide pos="7056"/>
        <p:guide orient="horz" pos="316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na Vera Leon" userId="S::dayana.vera@soy.sena.edu.co::49320f96-fb15-4796-97a1-b8b0197f08c8" providerId="AD" clId="Web-{8A717F54-713D-AF13-90ED-18B25909EC37}"/>
    <pc:docChg chg="modSld">
      <pc:chgData name="Dayana Vera Leon" userId="S::dayana.vera@soy.sena.edu.co::49320f96-fb15-4796-97a1-b8b0197f08c8" providerId="AD" clId="Web-{8A717F54-713D-AF13-90ED-18B25909EC37}" dt="2026-02-26T19:36:55.641" v="2" actId="20577"/>
      <pc:docMkLst>
        <pc:docMk/>
      </pc:docMkLst>
      <pc:sldChg chg="modSp">
        <pc:chgData name="Dayana Vera Leon" userId="S::dayana.vera@soy.sena.edu.co::49320f96-fb15-4796-97a1-b8b0197f08c8" providerId="AD" clId="Web-{8A717F54-713D-AF13-90ED-18B25909EC37}" dt="2026-02-26T19:36:55.641" v="2" actId="20577"/>
        <pc:sldMkLst>
          <pc:docMk/>
          <pc:sldMk cId="0" sldId="256"/>
        </pc:sldMkLst>
        <pc:spChg chg="mod">
          <ac:chgData name="Dayana Vera Leon" userId="S::dayana.vera@soy.sena.edu.co::49320f96-fb15-4796-97a1-b8b0197f08c8" providerId="AD" clId="Web-{8A717F54-713D-AF13-90ED-18B25909EC37}" dt="2026-02-26T19:36:55.641" v="2" actId="20577"/>
          <ac:spMkLst>
            <pc:docMk/>
            <pc:sldMk cId="0" sldId="256"/>
            <ac:spMk id="1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85dbb52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9185dbb52d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9185dbb52d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0f82315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b0f82315d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b0f82315d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0f82315d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b0f82315d9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b0f82315d9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0f82315d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b0f82315d9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b0f82315d9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0f82315d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b0f82315d9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b0f82315d9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f82315d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b0f82315d9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b0f82315d9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7261f6c6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a7261f6c68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a7261f6c68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1603f86a28a26d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g71603f86a28a26d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71603f86a28a26d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0f82315d9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3b0f82315d9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b0f82315d9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0f82315d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b0f82315d9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b0f82315d9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0f82315d9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3b0f82315d9_1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3b0f82315d9_1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0f82315d9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3b0f82315d9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b0f82315d9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0f82315d9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3b0f82315d9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b0f82315d9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0f82315d9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3b0f82315d9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3b0f82315d9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0f82315d9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3b0f82315d9_1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b0f82315d9_1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a87e4aa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3ca87e4aa8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g3ca87e4aa8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 type="title">
  <p:cSld name="TITL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8" name="Google Shape;18;p16"/>
          <p:cNvCxnSpPr/>
          <p:nvPr/>
        </p:nvCxnSpPr>
        <p:spPr>
          <a:xfrm>
            <a:off x="1301262" y="3496322"/>
            <a:ext cx="0" cy="33528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9" name="Google Shape;19;p16"/>
          <p:cNvSpPr/>
          <p:nvPr/>
        </p:nvSpPr>
        <p:spPr>
          <a:xfrm>
            <a:off x="8217780" y="2973840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7859002" y="2744546"/>
            <a:ext cx="139038" cy="139038"/>
          </a:xfrm>
          <a:custGeom>
            <a:avLst/>
            <a:gdLst/>
            <a:ahLst/>
            <a:cxnLst/>
            <a:rect l="l" t="t" r="r" b="b"/>
            <a:pathLst>
              <a:path w="139038" h="139038" extrusionOk="0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Google Shape;21;p16"/>
          <p:cNvSpPr/>
          <p:nvPr/>
        </p:nvSpPr>
        <p:spPr>
          <a:xfrm>
            <a:off x="7843462" y="3198265"/>
            <a:ext cx="127713" cy="127713"/>
          </a:xfrm>
          <a:custGeom>
            <a:avLst/>
            <a:gdLst/>
            <a:ahLst/>
            <a:cxnLst/>
            <a:rect l="l" t="t" r="r" b="b"/>
            <a:pathLst>
              <a:path w="127713" h="127713" extrusionOk="0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l título ">
  <p:cSld name="3_Diapositiva del título 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 rot="-5400000">
            <a:off x="9811512" y="1591056"/>
            <a:ext cx="35478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27" name="Google Shape;27;p17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8" name="Google Shape;28;p17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17"/>
          <p:cNvSpPr>
            <a:spLocks noGrp="1"/>
          </p:cNvSpPr>
          <p:nvPr>
            <p:ph type="pic" idx="2"/>
          </p:nvPr>
        </p:nvSpPr>
        <p:spPr>
          <a:xfrm>
            <a:off x="283464" y="301752"/>
            <a:ext cx="5221224" cy="62636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contenido">
  <p:cSld name="1_Título y contenid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>
            <a:spLocks noGrp="1"/>
          </p:cNvSpPr>
          <p:nvPr>
            <p:ph type="pic" idx="2"/>
          </p:nvPr>
        </p:nvSpPr>
        <p:spPr>
          <a:xfrm>
            <a:off x="7451965" y="1665520"/>
            <a:ext cx="4266960" cy="4266968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50392" y="2825496"/>
            <a:ext cx="6190488" cy="3346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7964424" y="62179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37" name="Google Shape;37;p18"/>
          <p:cNvCxnSpPr/>
          <p:nvPr/>
        </p:nvCxnSpPr>
        <p:spPr>
          <a:xfrm>
            <a:off x="0" y="806470"/>
            <a:ext cx="7903723" cy="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38" name="Google Shape;38;p18"/>
          <p:cNvSpPr/>
          <p:nvPr/>
        </p:nvSpPr>
        <p:spPr>
          <a:xfrm>
            <a:off x="11281590" y="2070656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18"/>
          <p:cNvSpPr/>
          <p:nvPr/>
        </p:nvSpPr>
        <p:spPr>
          <a:xfrm>
            <a:off x="10969280" y="178001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1444752" y="2505075"/>
            <a:ext cx="455371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784848" y="1681163"/>
            <a:ext cx="455371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784848" y="2505075"/>
            <a:ext cx="455371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6" name="Google Shape;46;p1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47" name="Google Shape;47;p19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p19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9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olo el título">
  <p:cSld name="2_Solo el títul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>
            <a:spLocks noGrp="1"/>
          </p:cNvSpPr>
          <p:nvPr>
            <p:ph type="pic" idx="2"/>
          </p:nvPr>
        </p:nvSpPr>
        <p:spPr>
          <a:xfrm>
            <a:off x="1366432" y="2530058"/>
            <a:ext cx="3707972" cy="370797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 txBox="1">
            <a:spLocks noGrp="1"/>
          </p:cNvSpPr>
          <p:nvPr>
            <p:ph type="title"/>
          </p:nvPr>
        </p:nvSpPr>
        <p:spPr>
          <a:xfrm>
            <a:off x="5202936" y="585216"/>
            <a:ext cx="5833872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658368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 rot="-5400000">
            <a:off x="-548640" y="1938528"/>
            <a:ext cx="2788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610600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56" name="Google Shape;56;p20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57" name="Google Shape;57;p20"/>
          <p:cNvSpPr txBox="1">
            <a:spLocks noGrp="1"/>
          </p:cNvSpPr>
          <p:nvPr>
            <p:ph type="body" idx="1"/>
          </p:nvPr>
        </p:nvSpPr>
        <p:spPr>
          <a:xfrm>
            <a:off x="5202936" y="3127248"/>
            <a:ext cx="5833872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/>
          <p:nvPr/>
        </p:nvSpPr>
        <p:spPr>
          <a:xfrm>
            <a:off x="4745394" y="276027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4386614" y="253098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20"/>
          <p:cNvSpPr/>
          <p:nvPr/>
        </p:nvSpPr>
        <p:spPr>
          <a:xfrm>
            <a:off x="1669987" y="6031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21"/>
          <p:cNvSpPr/>
          <p:nvPr/>
        </p:nvSpPr>
        <p:spPr>
          <a:xfrm>
            <a:off x="10772266" y="3054359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21"/>
          <p:cNvSpPr/>
          <p:nvPr/>
        </p:nvSpPr>
        <p:spPr>
          <a:xfrm>
            <a:off x="10724364" y="2515838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21"/>
          <p:cNvSpPr/>
          <p:nvPr/>
        </p:nvSpPr>
        <p:spPr>
          <a:xfrm>
            <a:off x="11024834" y="2787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1261869" y="2633448"/>
            <a:ext cx="151536" cy="151536"/>
          </a:xfrm>
          <a:custGeom>
            <a:avLst/>
            <a:gdLst/>
            <a:ahLst/>
            <a:cxnLst/>
            <a:rect l="l" t="t" r="r" b="b"/>
            <a:pathLst>
              <a:path w="151536" h="151536" extrusionOk="0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21"/>
          <p:cNvSpPr/>
          <p:nvPr/>
        </p:nvSpPr>
        <p:spPr>
          <a:xfrm>
            <a:off x="1064053" y="3083338"/>
            <a:ext cx="95759" cy="95759"/>
          </a:xfrm>
          <a:custGeom>
            <a:avLst/>
            <a:gdLst/>
            <a:ahLst/>
            <a:cxnLst/>
            <a:rect l="l" t="t" r="r" b="b"/>
            <a:pathLst>
              <a:path w="95759" h="95759" extrusionOk="0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21"/>
          <p:cNvSpPr/>
          <p:nvPr/>
        </p:nvSpPr>
        <p:spPr>
          <a:xfrm>
            <a:off x="1413405" y="349287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108625" h="108625" extrusionOk="0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74" name="Google Shape;74;p2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contenido">
  <p:cSld name="3_Título y contenid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576072" y="365125"/>
            <a:ext cx="107716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1"/>
          </p:nvPr>
        </p:nvSpPr>
        <p:spPr>
          <a:xfrm>
            <a:off x="576072" y="1825625"/>
            <a:ext cx="1077163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6583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8503920" y="841248"/>
            <a:ext cx="36301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81" name="Google Shape;81;p23"/>
          <p:cNvSpPr/>
          <p:nvPr/>
        </p:nvSpPr>
        <p:spPr>
          <a:xfrm>
            <a:off x="11202264" y="344083"/>
            <a:ext cx="151536" cy="151536"/>
          </a:xfrm>
          <a:custGeom>
            <a:avLst/>
            <a:gdLst/>
            <a:ahLst/>
            <a:cxnLst/>
            <a:rect l="l" t="t" r="r" b="b"/>
            <a:pathLst>
              <a:path w="151536" h="151536" extrusionOk="0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23"/>
          <p:cNvSpPr/>
          <p:nvPr/>
        </p:nvSpPr>
        <p:spPr>
          <a:xfrm>
            <a:off x="11563141" y="59091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108625" h="108625" extrusionOk="0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l título">
  <p:cSld name="4_Diapositiva del título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ctrTitle"/>
          </p:nvPr>
        </p:nvSpPr>
        <p:spPr>
          <a:xfrm>
            <a:off x="6391656" y="804672"/>
            <a:ext cx="4434840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 rot="-5400000">
            <a:off x="9811512" y="1591056"/>
            <a:ext cx="35478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88" name="Google Shape;88;p24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89" name="Google Shape;89;p24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24"/>
          <p:cNvSpPr>
            <a:spLocks noGrp="1"/>
          </p:cNvSpPr>
          <p:nvPr>
            <p:ph type="pic" idx="2"/>
          </p:nvPr>
        </p:nvSpPr>
        <p:spPr>
          <a:xfrm>
            <a:off x="283464" y="3108960"/>
            <a:ext cx="5221224" cy="344728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4"/>
          <p:cNvSpPr>
            <a:spLocks noGrp="1"/>
          </p:cNvSpPr>
          <p:nvPr>
            <p:ph type="pic" idx="3"/>
          </p:nvPr>
        </p:nvSpPr>
        <p:spPr>
          <a:xfrm>
            <a:off x="283464" y="301752"/>
            <a:ext cx="2459736" cy="250545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4"/>
          <p:cNvSpPr>
            <a:spLocks noGrp="1"/>
          </p:cNvSpPr>
          <p:nvPr>
            <p:ph type="pic" idx="4"/>
          </p:nvPr>
        </p:nvSpPr>
        <p:spPr>
          <a:xfrm>
            <a:off x="3044952" y="301752"/>
            <a:ext cx="2459736" cy="250545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ítulo">
  <p:cSld name="Diapositiva del títul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 b="1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96" name="Google Shape;96;p2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1444752" y="1825625"/>
            <a:ext cx="4553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2"/>
          </p:nvPr>
        </p:nvSpPr>
        <p:spPr>
          <a:xfrm>
            <a:off x="6784848" y="1825625"/>
            <a:ext cx="4553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1" name="Google Shape;101;p2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2" name="Google Shape;102;p26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ción">
  <p:cSld name="1_Comparació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2"/>
          </p:nvPr>
        </p:nvSpPr>
        <p:spPr>
          <a:xfrm>
            <a:off x="1444752" y="2505075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body" idx="3"/>
          </p:nvPr>
        </p:nvSpPr>
        <p:spPr>
          <a:xfrm>
            <a:off x="4983480" y="1681163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body" idx="4"/>
          </p:nvPr>
        </p:nvSpPr>
        <p:spPr>
          <a:xfrm>
            <a:off x="4983480" y="2505075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1" name="Google Shape;111;p27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12" name="Google Shape;112;p27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7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7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7"/>
          <p:cNvSpPr txBox="1">
            <a:spLocks noGrp="1"/>
          </p:cNvSpPr>
          <p:nvPr>
            <p:ph type="body" idx="5"/>
          </p:nvPr>
        </p:nvSpPr>
        <p:spPr>
          <a:xfrm>
            <a:off x="8531352" y="1769269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body" idx="6"/>
          </p:nvPr>
        </p:nvSpPr>
        <p:spPr>
          <a:xfrm>
            <a:off x="8531352" y="2593181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>
            <a:spLocks noGrp="1"/>
          </p:cNvSpPr>
          <p:nvPr>
            <p:ph type="pic" idx="2"/>
          </p:nvPr>
        </p:nvSpPr>
        <p:spPr>
          <a:xfrm>
            <a:off x="1777111" y="407499"/>
            <a:ext cx="1952279" cy="1952279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8"/>
          <p:cNvSpPr>
            <a:spLocks noGrp="1"/>
          </p:cNvSpPr>
          <p:nvPr>
            <p:ph type="pic" idx="3"/>
          </p:nvPr>
        </p:nvSpPr>
        <p:spPr>
          <a:xfrm>
            <a:off x="3528345" y="1972581"/>
            <a:ext cx="2290065" cy="2273502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8"/>
          <p:cNvSpPr>
            <a:spLocks noGrp="1"/>
          </p:cNvSpPr>
          <p:nvPr>
            <p:ph type="pic" idx="4"/>
          </p:nvPr>
        </p:nvSpPr>
        <p:spPr>
          <a:xfrm>
            <a:off x="5579539" y="4386312"/>
            <a:ext cx="3119293" cy="246281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8"/>
          <p:cNvSpPr>
            <a:spLocks noGrp="1"/>
          </p:cNvSpPr>
          <p:nvPr>
            <p:ph type="pic" idx="5"/>
          </p:nvPr>
        </p:nvSpPr>
        <p:spPr>
          <a:xfrm>
            <a:off x="1092905" y="4018982"/>
            <a:ext cx="3854161" cy="283901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8"/>
          <p:cNvSpPr txBox="1"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dt" idx="10"/>
          </p:nvPr>
        </p:nvSpPr>
        <p:spPr>
          <a:xfrm>
            <a:off x="658368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ftr" idx="11"/>
          </p:nvPr>
        </p:nvSpPr>
        <p:spPr>
          <a:xfrm rot="-5400000">
            <a:off x="-548640" y="1938528"/>
            <a:ext cx="2788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ldNum" idx="12"/>
          </p:nvPr>
        </p:nvSpPr>
        <p:spPr>
          <a:xfrm>
            <a:off x="8610600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1472366" y="1859534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8"/>
          <p:cNvSpPr/>
          <p:nvPr/>
        </p:nvSpPr>
        <p:spPr>
          <a:xfrm>
            <a:off x="2014523" y="3146867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5404920" y="4508295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9" name="Google Shape;129;p28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5760720" y="3127248"/>
            <a:ext cx="5276088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36" name="Google Shape;136;p2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1" name="Google Shape;141;p3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9" name="Google Shape;149;p3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leyenda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57" name="Google Shape;157;p3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sz="4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hyperlink" Target="https://drive.google.com/file/d/1cVm8NvtYmPD44GlJOUnnWnRGCDycuQtI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rive.google.com/file/d/1OxNIbl8tAsLIESTrWLar9wE9-07mJC6k/view?usp=sharing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D6Cn1rtoq1Qslem3zWIpnxS87qxzBjT/view?usp=shar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_RnVvhA3MVrRRo38x2UGclHcx2WOc891/view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hyperlink" Target="https://docs.google.com/document/d/1sYGECW8zf_to_xCidwKZ-UjWlvyq20kj/edit?usp=sharing&amp;ouid=105153019530874876180&amp;rtpof=true&amp;sd=tru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185dbb52d_1_0"/>
          <p:cNvSpPr txBox="1">
            <a:spLocks noGrp="1"/>
          </p:cNvSpPr>
          <p:nvPr>
            <p:ph type="ctrTitle"/>
          </p:nvPr>
        </p:nvSpPr>
        <p:spPr>
          <a:xfrm>
            <a:off x="1816800" y="428620"/>
            <a:ext cx="7652700" cy="45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</a:pPr>
            <a:r>
              <a:rPr lang="es-MX" sz="4500">
                <a:solidFill>
                  <a:schemeClr val="lt1"/>
                </a:solidFill>
              </a:rPr>
              <a:t>SOFTWARE DE INVENTARIO PARA LA </a:t>
            </a:r>
            <a:r>
              <a:rPr lang="es-MX" sz="4500"/>
              <a:t>OPTIMIZACIÓN</a:t>
            </a:r>
            <a:r>
              <a:rPr lang="es-MX" sz="4500">
                <a:solidFill>
                  <a:schemeClr val="lt1"/>
                </a:solidFill>
              </a:rPr>
              <a:t> Y CONTROL DE REGISTRO, EN PRODUCTOS DE STOCK DIRIGIDO A PYMES</a:t>
            </a:r>
            <a:endParaRPr sz="4500"/>
          </a:p>
        </p:txBody>
      </p:sp>
      <p:sp>
        <p:nvSpPr>
          <p:cNvPr id="164" name="Google Shape;164;g39185dbb52d_1_0"/>
          <p:cNvSpPr txBox="1">
            <a:spLocks noGrp="1"/>
          </p:cNvSpPr>
          <p:nvPr>
            <p:ph type="subTitle" idx="1"/>
          </p:nvPr>
        </p:nvSpPr>
        <p:spPr>
          <a:xfrm>
            <a:off x="3000375" y="5331155"/>
            <a:ext cx="8649600" cy="11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s-MX" sz="1500" b="1" i="1"/>
              <a:t>Por</a:t>
            </a:r>
            <a:r>
              <a:rPr lang="es-MX" sz="1500" i="1"/>
              <a:t>:</a:t>
            </a:r>
            <a:endParaRPr lang="es-ES" sz="1500" i="1"/>
          </a:p>
          <a:p>
            <a:pPr marL="0" lvl="0" indent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 i="1"/>
              <a:t>Esteban</a:t>
            </a:r>
            <a:r>
              <a:rPr lang="es-MX" sz="1500" i="1" dirty="0"/>
              <a:t> Rojas Rodríguez, Joab Felipe Rodríguez Posada, </a:t>
            </a:r>
            <a:endParaRPr sz="1500" i="1"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 i="1" dirty="0"/>
              <a:t>Dayana Vera León, Juan David </a:t>
            </a:r>
            <a:r>
              <a:rPr lang="es-MX" sz="1500" i="1" dirty="0" err="1"/>
              <a:t>Sanchez</a:t>
            </a:r>
            <a:r>
              <a:rPr lang="es-MX" sz="1500" i="1" dirty="0"/>
              <a:t> </a:t>
            </a:r>
            <a:endParaRPr sz="1500" i="1"/>
          </a:p>
        </p:txBody>
      </p:sp>
      <p:pic>
        <p:nvPicPr>
          <p:cNvPr id="165" name="Google Shape;165;g39185dbb52d_1_0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0007875" y="832875"/>
            <a:ext cx="1386025" cy="11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>
            <a:spLocks noGrp="1"/>
          </p:cNvSpPr>
          <p:nvPr>
            <p:ph type="title"/>
          </p:nvPr>
        </p:nvSpPr>
        <p:spPr>
          <a:xfrm>
            <a:off x="804675" y="1375584"/>
            <a:ext cx="61905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4000"/>
              <a:t>Problema que resuelve:</a:t>
            </a:r>
            <a:endParaRPr sz="4000"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1"/>
          </p:nvPr>
        </p:nvSpPr>
        <p:spPr>
          <a:xfrm>
            <a:off x="850392" y="2705880"/>
            <a:ext cx="6190500" cy="3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/>
              <a:t>Actualmente las compañías no cuentan con sistemas óptimos para controlar el inventario, usando documentos físicos como lo pueden ser archivos, documentos, hojas, o incluso Excel. Muchas de éstas formas son complicadas, largas, tediosas y pueden cometer un margen de error de difícil corrección, ya que, puede ser ambiguo de entender, ya sea para empleados a cargo o administradores. </a:t>
            </a:r>
            <a:endParaRPr/>
          </a:p>
        </p:txBody>
      </p:sp>
      <p:sp>
        <p:nvSpPr>
          <p:cNvPr id="173" name="Google Shape;173;p4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  <p:pic>
        <p:nvPicPr>
          <p:cNvPr id="175" name="Google Shape;175;p4"/>
          <p:cNvPicPr preferRelativeResize="0"/>
          <p:nvPr/>
        </p:nvPicPr>
        <p:blipFill rotWithShape="1">
          <a:blip r:embed="rId3">
            <a:alphaModFix/>
          </a:blip>
          <a:srcRect l="24702" t="6107" r="25048" b="6387"/>
          <a:stretch/>
        </p:blipFill>
        <p:spPr>
          <a:xfrm>
            <a:off x="7296600" y="1974850"/>
            <a:ext cx="3857626" cy="38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  <p:cxnSp>
        <p:nvCxnSpPr>
          <p:cNvPr id="177" name="Google Shape;177;p4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4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/>
        </p:nvSpPr>
        <p:spPr>
          <a:xfrm>
            <a:off x="7928243" y="5941031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u="sng">
                <a:solidFill>
                  <a:schemeClr val="hlink"/>
                </a:solidFill>
                <a:hlinkClick r:id="rId5"/>
              </a:rPr>
              <a:t>DEFINICIÓN DEL PROYECTO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>
            <a:spLocks noGrp="1"/>
          </p:cNvSpPr>
          <p:nvPr>
            <p:ph type="body" idx="1"/>
          </p:nvPr>
        </p:nvSpPr>
        <p:spPr>
          <a:xfrm>
            <a:off x="576072" y="1825625"/>
            <a:ext cx="10771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 sz="2000"/>
              <a:t>Es importante que las PYMES usen Data Stock porque: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MX" sz="2000"/>
              <a:t>Reduce los Tiempos de Gestión en Control de Inventario</a:t>
            </a:r>
            <a:endParaRPr sz="20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MX" sz="2000"/>
              <a:t>Reduce los Errores Operativos y los Costos de estos</a:t>
            </a:r>
            <a:endParaRPr sz="20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MX" sz="2000"/>
              <a:t>Evita las Pérdidas Económicas por Vencimiento de los Productos</a:t>
            </a:r>
            <a:endParaRPr sz="20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/>
              <a:t>Ésto contribuiría a su empresa a Optimizar la eficiencia en control y pérdida de productos, ya que según MRPeasy, para reponer existencias rápidamente en su inventario se enfrentará a pedidos urgentes con precios elevados y envíos que pueden aumentar los costos en un 25% o más.</a:t>
            </a:r>
            <a:endParaRPr sz="2000"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/>
          </p:nvPr>
        </p:nvSpPr>
        <p:spPr>
          <a:xfrm>
            <a:off x="576072" y="365125"/>
            <a:ext cx="1077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JUSTIFICACIÓN</a:t>
            </a:r>
            <a:endParaRPr sz="4000"/>
          </a:p>
        </p:txBody>
      </p:sp>
      <p:sp>
        <p:nvSpPr>
          <p:cNvPr id="188" name="Google Shape;188;p6"/>
          <p:cNvSpPr txBox="1">
            <a:spLocks noGrp="1"/>
          </p:cNvSpPr>
          <p:nvPr>
            <p:ph type="ftr" idx="11"/>
          </p:nvPr>
        </p:nvSpPr>
        <p:spPr>
          <a:xfrm>
            <a:off x="8503920" y="841248"/>
            <a:ext cx="3630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dt" idx="10"/>
          </p:nvPr>
        </p:nvSpPr>
        <p:spPr>
          <a:xfrm>
            <a:off x="65836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191" name="Google Shape;191;p6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0658038" y="677062"/>
            <a:ext cx="750774" cy="6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>
            <a:spLocks noGrp="1"/>
          </p:cNvSpPr>
          <p:nvPr>
            <p:ph type="body" idx="2"/>
          </p:nvPr>
        </p:nvSpPr>
        <p:spPr>
          <a:xfrm>
            <a:off x="1724375" y="2869435"/>
            <a:ext cx="8360700" cy="24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Por medio de nuestro software (Data Stock), brindamos una solución práctica para que las PYMES puedan gestionar sus inventarios al reducir los tiempos de uso y manejo del stock en la plataforma, con autorización de quienes pueden o no manejar el inventario, como también, reducir las pérdidas económicas en vencimiento de productos y recibir notificaciones previas para el cambio oportuno del stock, facilitando el control de este.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452600" y="697775"/>
            <a:ext cx="9901200" cy="19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2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¿EL MÉTODO DE REGISTRO Y ALMACENAMIENTO LE PERMITE TENER UN CONTROL ÓPTIMO Y PRECISO SOBRE LAS FECHAS DE CADUCIDAD DE SU INVENTARIO?</a:t>
            </a:r>
            <a:endParaRPr sz="29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accent2"/>
                </a:solidFill>
              </a:rPr>
              <a:t>4</a:t>
            </a:fld>
            <a:endParaRPr>
              <a:solidFill>
                <a:schemeClr val="accent2"/>
              </a:solidFill>
            </a:endParaRPr>
          </a:p>
        </p:txBody>
      </p:sp>
      <p:cxnSp>
        <p:nvCxnSpPr>
          <p:cNvPr id="201" name="Google Shape;201;p5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accent2"/>
                </a:solidFill>
              </a:rPr>
              <a:t>DATA STOCK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203" name="Google Shape;203;p5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71983" y="279618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accent2"/>
                </a:solidFill>
              </a:rPr>
              <a:t>DATA STOCK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"/>
          <p:cNvSpPr txBox="1">
            <a:spLocks noGrp="1"/>
          </p:cNvSpPr>
          <p:nvPr>
            <p:ph type="ctrTitle"/>
          </p:nvPr>
        </p:nvSpPr>
        <p:spPr>
          <a:xfrm>
            <a:off x="6500987" y="1203653"/>
            <a:ext cx="44349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OBJETIVO GENERAL</a:t>
            </a:r>
            <a:endParaRPr sz="4000"/>
          </a:p>
        </p:txBody>
      </p:sp>
      <p:sp>
        <p:nvSpPr>
          <p:cNvPr id="211" name="Google Shape;211;p2"/>
          <p:cNvSpPr txBox="1">
            <a:spLocks noGrp="1"/>
          </p:cNvSpPr>
          <p:nvPr>
            <p:ph type="subTitle" idx="1"/>
          </p:nvPr>
        </p:nvSpPr>
        <p:spPr>
          <a:xfrm>
            <a:off x="6500986" y="3029733"/>
            <a:ext cx="4434900" cy="1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Optimizar los tiempos para registrar y almacenar datos e información de inventarios por medio de la plataforma digital Data Stock.</a:t>
            </a:r>
            <a:endParaRPr/>
          </a:p>
        </p:txBody>
      </p:sp>
      <p:sp>
        <p:nvSpPr>
          <p:cNvPr id="212" name="Google Shape;21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  <p:sp>
        <p:nvSpPr>
          <p:cNvPr id="213" name="Google Shape;21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  <p:cxnSp>
        <p:nvCxnSpPr>
          <p:cNvPr id="214" name="Google Shape;214;p2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16" name="Google Shape;216;p2"/>
          <p:cNvSpPr txBox="1">
            <a:spLocks noGrp="1"/>
          </p:cNvSpPr>
          <p:nvPr>
            <p:ph type="ftr" idx="11"/>
          </p:nvPr>
        </p:nvSpPr>
        <p:spPr>
          <a:xfrm rot="-5400000">
            <a:off x="9814415" y="212818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17" name="Google Shape;217;p2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>
            <a:off x="0" y="0"/>
            <a:ext cx="5763126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"/>
          <p:cNvSpPr txBox="1"/>
          <p:nvPr/>
        </p:nvSpPr>
        <p:spPr>
          <a:xfrm>
            <a:off x="1889764" y="5029199"/>
            <a:ext cx="198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u="sng">
                <a:solidFill>
                  <a:schemeClr val="hlink"/>
                </a:solidFill>
                <a:hlinkClick r:id="rId5"/>
              </a:rPr>
              <a:t>DEFINICIÓN DEL PROYECTO</a:t>
            </a:r>
            <a:endParaRPr sz="1000"/>
          </a:p>
        </p:txBody>
      </p:sp>
      <p:pic>
        <p:nvPicPr>
          <p:cNvPr id="220" name="Google Shape;220;p2"/>
          <p:cNvPicPr preferRelativeResize="0"/>
          <p:nvPr/>
        </p:nvPicPr>
        <p:blipFill rotWithShape="1">
          <a:blip r:embed="rId6">
            <a:alphaModFix/>
          </a:blip>
          <a:srcRect l="23362" t="6515" r="25392" b="3982"/>
          <a:stretch/>
        </p:blipFill>
        <p:spPr>
          <a:xfrm>
            <a:off x="1239064" y="1604933"/>
            <a:ext cx="3299777" cy="32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 rot="10800000">
            <a:off x="-1" y="-60474"/>
            <a:ext cx="5763126" cy="691847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"/>
          <p:cNvSpPr txBox="1">
            <a:spLocks noGrp="1"/>
          </p:cNvSpPr>
          <p:nvPr>
            <p:ph type="ctrTitle"/>
          </p:nvPr>
        </p:nvSpPr>
        <p:spPr>
          <a:xfrm>
            <a:off x="6393180" y="855573"/>
            <a:ext cx="4434900" cy="13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OBJETIVOS ESPECÍFICOS</a:t>
            </a:r>
            <a:endParaRPr sz="4000"/>
          </a:p>
        </p:txBody>
      </p:sp>
      <p:sp>
        <p:nvSpPr>
          <p:cNvPr id="228" name="Google Shape;228;p3"/>
          <p:cNvSpPr txBox="1">
            <a:spLocks noGrp="1"/>
          </p:cNvSpPr>
          <p:nvPr>
            <p:ph type="subTitle" idx="1"/>
          </p:nvPr>
        </p:nvSpPr>
        <p:spPr>
          <a:xfrm>
            <a:off x="6393179" y="2670857"/>
            <a:ext cx="44349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/>
              <a:t>Agilizar y </a:t>
            </a:r>
            <a:r>
              <a:rPr lang="es-MX"/>
              <a:t>o</a:t>
            </a:r>
            <a:r>
              <a:rPr lang="es-MX" sz="1800"/>
              <a:t>rganizar los registros de información con categorías de productos.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/>
              <a:t>Disminuir proceso manual de papel a digital.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/>
              <a:t>Facilitar el acceso a la información de todo el stock e inventario (fechas y cantidades).</a:t>
            </a:r>
            <a:endParaRPr/>
          </a:p>
        </p:txBody>
      </p:sp>
      <p:sp>
        <p:nvSpPr>
          <p:cNvPr id="229" name="Google Shape;2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  <p:cxnSp>
        <p:nvCxnSpPr>
          <p:cNvPr id="230" name="Google Shape;230;p3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05599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32" name="Google Shape;232;p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48872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05599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1375575" y="1834121"/>
            <a:ext cx="2905800" cy="2830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5" name="Google Shape;235;p3"/>
          <p:cNvPicPr preferRelativeResize="0"/>
          <p:nvPr/>
        </p:nvPicPr>
        <p:blipFill rotWithShape="1">
          <a:blip r:embed="rId5">
            <a:alphaModFix/>
          </a:blip>
          <a:srcRect l="22689" t="5303" r="22293"/>
          <a:stretch/>
        </p:blipFill>
        <p:spPr>
          <a:xfrm>
            <a:off x="1171588" y="1595837"/>
            <a:ext cx="3508726" cy="34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1889764" y="5029199"/>
            <a:ext cx="198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u="sng">
                <a:solidFill>
                  <a:schemeClr val="hlink"/>
                </a:solidFill>
                <a:hlinkClick r:id="rId6"/>
              </a:rPr>
              <a:t>DEFINICIÓN DEL PROYECTO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 txBox="1">
            <a:spLocks noGrp="1"/>
          </p:cNvSpPr>
          <p:nvPr>
            <p:ph type="ctrTitle"/>
          </p:nvPr>
        </p:nvSpPr>
        <p:spPr>
          <a:xfrm>
            <a:off x="1527050" y="67602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ALCANCE</a:t>
            </a:r>
            <a:endParaRPr sz="4000"/>
          </a:p>
        </p:txBody>
      </p:sp>
      <p:sp>
        <p:nvSpPr>
          <p:cNvPr id="243" name="Google Shape;243;p7"/>
          <p:cNvSpPr txBox="1">
            <a:spLocks noGrp="1"/>
          </p:cNvSpPr>
          <p:nvPr>
            <p:ph type="subTitle" idx="1"/>
          </p:nvPr>
        </p:nvSpPr>
        <p:spPr>
          <a:xfrm>
            <a:off x="1600775" y="1826675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/>
              <a:t>Lograr la ejecución del programa en las siguientes fases:</a:t>
            </a:r>
            <a:endParaRPr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MX"/>
              <a:t>Módulo de Registro: </a:t>
            </a:r>
            <a:r>
              <a:rPr lang="es-MX">
                <a:solidFill>
                  <a:srgbClr val="FFFFFF"/>
                </a:solidFill>
              </a:rPr>
              <a:t>Registrar usuarios y Validar la duplicidad de correos en la base de datos</a:t>
            </a:r>
            <a:endParaRPr>
              <a:solidFill>
                <a:srgbClr val="FFFFFF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Char char="●"/>
            </a:pPr>
            <a:r>
              <a:rPr lang="es-MX">
                <a:solidFill>
                  <a:srgbClr val="FFFFFF"/>
                </a:solidFill>
              </a:rPr>
              <a:t>Módulo de Autenticación: Identificar al usuario registrado y de acuerdo a rol que haya sido previamente autorizado por el administrador de plataforma. Cambiar la contraseña.</a:t>
            </a:r>
            <a:endParaRPr>
              <a:solidFill>
                <a:srgbClr val="FFFFFF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000"/>
              <a:buChar char="●"/>
            </a:pPr>
            <a:r>
              <a:rPr lang="es-MX">
                <a:solidFill>
                  <a:srgbClr val="FFFFFF"/>
                </a:solidFill>
              </a:rPr>
              <a:t>Módulo de Productos: Ingresar los productos por categoría. Ingresar las fechas de caducidad. Calcular la cantidad de productos en stock.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4" name="Google Shape;244;p7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7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245" name="Google Shape;245;p7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7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7" name="Google Shape;247;p7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48" name="Google Shape;248;p7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0f82315d9_0_0"/>
          <p:cNvSpPr txBox="1">
            <a:spLocks noGrp="1"/>
          </p:cNvSpPr>
          <p:nvPr>
            <p:ph type="title"/>
          </p:nvPr>
        </p:nvSpPr>
        <p:spPr>
          <a:xfrm>
            <a:off x="819100" y="2689400"/>
            <a:ext cx="3153600" cy="1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lang="es-MX" sz="4000"/>
              <a:t>DIAGRAMA DE PROCESO GENERAL</a:t>
            </a:r>
            <a:endParaRPr sz="4000"/>
          </a:p>
        </p:txBody>
      </p:sp>
      <p:sp>
        <p:nvSpPr>
          <p:cNvPr id="255" name="Google Shape;255;g3b0f82315d9_0_0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56" name="Google Shape;256;g3b0f82315d9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8</a:t>
            </a:fld>
            <a:endParaRPr/>
          </a:p>
        </p:txBody>
      </p:sp>
      <p:sp>
        <p:nvSpPr>
          <p:cNvPr id="257" name="Google Shape;257;g3b0f82315d9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8</a:t>
            </a:fld>
            <a:endParaRPr/>
          </a:p>
        </p:txBody>
      </p:sp>
      <p:cxnSp>
        <p:nvCxnSpPr>
          <p:cNvPr id="258" name="Google Shape;258;g3b0f82315d9_0_0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g3b0f82315d9_0_0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60" name="Google Shape;260;g3b0f82315d9_0_0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b0f82315d9_0_0"/>
          <p:cNvSpPr txBox="1">
            <a:spLocks noGrp="1"/>
          </p:cNvSpPr>
          <p:nvPr>
            <p:ph type="body" idx="1"/>
          </p:nvPr>
        </p:nvSpPr>
        <p:spPr>
          <a:xfrm>
            <a:off x="4429500" y="5883654"/>
            <a:ext cx="61905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u="sng">
                <a:solidFill>
                  <a:schemeClr val="hlink"/>
                </a:solidFill>
                <a:hlinkClick r:id="rId4"/>
              </a:rPr>
              <a:t>LINK DEL </a:t>
            </a:r>
            <a:r>
              <a:rPr lang="es-MX" u="sng">
                <a:solidFill>
                  <a:schemeClr val="hlink"/>
                </a:solidFill>
                <a:hlinkClick r:id="rId4"/>
              </a:rPr>
              <a:t>MODELO GENERAL</a:t>
            </a:r>
            <a:endParaRPr/>
          </a:p>
        </p:txBody>
      </p:sp>
      <p:pic>
        <p:nvPicPr>
          <p:cNvPr id="262" name="Google Shape;262;g3b0f82315d9_0_0"/>
          <p:cNvPicPr preferRelativeResize="0"/>
          <p:nvPr/>
        </p:nvPicPr>
        <p:blipFill rotWithShape="1">
          <a:blip r:embed="rId5">
            <a:alphaModFix/>
          </a:blip>
          <a:srcRect b="15232"/>
          <a:stretch/>
        </p:blipFill>
        <p:spPr>
          <a:xfrm>
            <a:off x="4417425" y="1480400"/>
            <a:ext cx="6288548" cy="40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0f82315d9_0_57"/>
          <p:cNvSpPr txBox="1">
            <a:spLocks noGrp="1"/>
          </p:cNvSpPr>
          <p:nvPr>
            <p:ph type="title"/>
          </p:nvPr>
        </p:nvSpPr>
        <p:spPr>
          <a:xfrm>
            <a:off x="790275" y="3161950"/>
            <a:ext cx="39171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lang="es-MX" sz="4000"/>
              <a:t>DIAGRAMAS DE SUBPROCESO </a:t>
            </a:r>
            <a:endParaRPr sz="4000"/>
          </a:p>
        </p:txBody>
      </p:sp>
      <p:sp>
        <p:nvSpPr>
          <p:cNvPr id="269" name="Google Shape;269;g3b0f82315d9_0_57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70" name="Google Shape;270;g3b0f82315d9_0_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  <p:sp>
        <p:nvSpPr>
          <p:cNvPr id="271" name="Google Shape;271;g3b0f82315d9_0_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  <p:cxnSp>
        <p:nvCxnSpPr>
          <p:cNvPr id="272" name="Google Shape;272;g3b0f82315d9_0_57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g3b0f82315d9_0_57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74" name="Google Shape;274;g3b0f82315d9_0_57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b0f82315d9_0_57"/>
          <p:cNvPicPr preferRelativeResize="0"/>
          <p:nvPr/>
        </p:nvPicPr>
        <p:blipFill rotWithShape="1">
          <a:blip r:embed="rId4">
            <a:alphaModFix/>
          </a:blip>
          <a:srcRect b="12823"/>
          <a:stretch/>
        </p:blipFill>
        <p:spPr>
          <a:xfrm>
            <a:off x="4556707" y="1972329"/>
            <a:ext cx="6568325" cy="3648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b0f82315d9_0_57"/>
          <p:cNvSpPr txBox="1">
            <a:spLocks noGrp="1"/>
          </p:cNvSpPr>
          <p:nvPr>
            <p:ph type="body" idx="1"/>
          </p:nvPr>
        </p:nvSpPr>
        <p:spPr>
          <a:xfrm>
            <a:off x="4619450" y="5620891"/>
            <a:ext cx="61905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u="sng">
                <a:solidFill>
                  <a:schemeClr val="hlink"/>
                </a:solidFill>
                <a:hlinkClick r:id="rId5"/>
              </a:rPr>
              <a:t>LINK DEL MODELO DE REGISTRO DE USUARIO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0f82315d9_0_43"/>
          <p:cNvSpPr txBox="1">
            <a:spLocks noGrp="1"/>
          </p:cNvSpPr>
          <p:nvPr>
            <p:ph type="title"/>
          </p:nvPr>
        </p:nvSpPr>
        <p:spPr>
          <a:xfrm>
            <a:off x="790275" y="3161950"/>
            <a:ext cx="39171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lang="es-MX" sz="4000"/>
              <a:t>DIAGRAMAS DE SUBPROCESO </a:t>
            </a:r>
            <a:endParaRPr sz="4000"/>
          </a:p>
        </p:txBody>
      </p:sp>
      <p:sp>
        <p:nvSpPr>
          <p:cNvPr id="283" name="Google Shape;283;g3b0f82315d9_0_43"/>
          <p:cNvSpPr txBox="1">
            <a:spLocks noGrp="1"/>
          </p:cNvSpPr>
          <p:nvPr>
            <p:ph type="body" idx="1"/>
          </p:nvPr>
        </p:nvSpPr>
        <p:spPr>
          <a:xfrm>
            <a:off x="4429500" y="5883654"/>
            <a:ext cx="61905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u="sng">
                <a:solidFill>
                  <a:schemeClr val="hlink"/>
                </a:solidFill>
                <a:hlinkClick r:id="rId3"/>
              </a:rPr>
              <a:t>LINK DEL MODULO DE AUTENTICACION DE USUARIOS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84" name="Google Shape;284;g3b0f82315d9_0_43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85" name="Google Shape;285;g3b0f82315d9_0_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  <p:sp>
        <p:nvSpPr>
          <p:cNvPr id="286" name="Google Shape;286;g3b0f82315d9_0_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  <p:cxnSp>
        <p:nvCxnSpPr>
          <p:cNvPr id="287" name="Google Shape;287;g3b0f82315d9_0_43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g3b0f82315d9_0_43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89" name="Google Shape;289;g3b0f82315d9_0_4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b0f82315d9_0_43"/>
          <p:cNvPicPr preferRelativeResize="0"/>
          <p:nvPr/>
        </p:nvPicPr>
        <p:blipFill rotWithShape="1">
          <a:blip r:embed="rId5">
            <a:alphaModFix/>
          </a:blip>
          <a:srcRect b="8792"/>
          <a:stretch/>
        </p:blipFill>
        <p:spPr>
          <a:xfrm>
            <a:off x="4513927" y="1683890"/>
            <a:ext cx="6478126" cy="39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0f82315d9_0_28"/>
          <p:cNvSpPr txBox="1">
            <a:spLocks noGrp="1"/>
          </p:cNvSpPr>
          <p:nvPr>
            <p:ph type="title"/>
          </p:nvPr>
        </p:nvSpPr>
        <p:spPr>
          <a:xfrm>
            <a:off x="2459395" y="1132339"/>
            <a:ext cx="72732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4000"/>
              <a:t>DIAGRAMAS DE SUBPROCESO </a:t>
            </a:r>
            <a:endParaRPr sz="4000"/>
          </a:p>
        </p:txBody>
      </p:sp>
      <p:sp>
        <p:nvSpPr>
          <p:cNvPr id="297" name="Google Shape;297;g3b0f82315d9_0_28"/>
          <p:cNvSpPr txBox="1">
            <a:spLocks noGrp="1"/>
          </p:cNvSpPr>
          <p:nvPr>
            <p:ph type="body" idx="1"/>
          </p:nvPr>
        </p:nvSpPr>
        <p:spPr>
          <a:xfrm>
            <a:off x="3453150" y="5929625"/>
            <a:ext cx="52857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u="sng">
                <a:solidFill>
                  <a:schemeClr val="hlink"/>
                </a:solidFill>
                <a:hlinkClick r:id="rId3"/>
              </a:rPr>
              <a:t>LINK DEL </a:t>
            </a:r>
            <a:r>
              <a:rPr lang="es-MX" u="sng">
                <a:solidFill>
                  <a:schemeClr val="hlink"/>
                </a:solidFill>
                <a:hlinkClick r:id="rId3"/>
              </a:rPr>
              <a:t>MODULO REGISTRO PRODUCTOS</a:t>
            </a:r>
            <a:endParaRPr/>
          </a:p>
        </p:txBody>
      </p:sp>
      <p:sp>
        <p:nvSpPr>
          <p:cNvPr id="298" name="Google Shape;298;g3b0f82315d9_0_28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99" name="Google Shape;299;g3b0f82315d9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  <p:sp>
        <p:nvSpPr>
          <p:cNvPr id="300" name="Google Shape;300;g3b0f82315d9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  <p:cxnSp>
        <p:nvCxnSpPr>
          <p:cNvPr id="301" name="Google Shape;301;g3b0f82315d9_0_28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" name="Google Shape;302;g3b0f82315d9_0_28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303" name="Google Shape;303;g3b0f82315d9_0_28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b0f82315d9_0_28"/>
          <p:cNvPicPr preferRelativeResize="0"/>
          <p:nvPr/>
        </p:nvPicPr>
        <p:blipFill rotWithShape="1">
          <a:blip r:embed="rId5">
            <a:alphaModFix/>
          </a:blip>
          <a:srcRect r="17559" b="5820"/>
          <a:stretch/>
        </p:blipFill>
        <p:spPr>
          <a:xfrm>
            <a:off x="2836950" y="2585800"/>
            <a:ext cx="6546611" cy="31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0f82315d9_0_13"/>
          <p:cNvSpPr txBox="1">
            <a:spLocks noGrp="1"/>
          </p:cNvSpPr>
          <p:nvPr>
            <p:ph type="ctrTitle"/>
          </p:nvPr>
        </p:nvSpPr>
        <p:spPr>
          <a:xfrm>
            <a:off x="6092773" y="614448"/>
            <a:ext cx="44349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ANÁLISIS CUANTITATIVO</a:t>
            </a:r>
            <a:endParaRPr sz="4000"/>
          </a:p>
        </p:txBody>
      </p:sp>
      <p:sp>
        <p:nvSpPr>
          <p:cNvPr id="311" name="Google Shape;311;g3b0f82315d9_0_13"/>
          <p:cNvSpPr txBox="1">
            <a:spLocks noGrp="1"/>
          </p:cNvSpPr>
          <p:nvPr>
            <p:ph type="subTitle" idx="1"/>
          </p:nvPr>
        </p:nvSpPr>
        <p:spPr>
          <a:xfrm>
            <a:off x="6108100" y="2273779"/>
            <a:ext cx="4924200" cy="4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Para nuestros clientes es indispensable:</a:t>
            </a:r>
            <a:br>
              <a:rPr lang="es-MX" sz="2400"/>
            </a:br>
            <a:endParaRPr sz="2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Tener la información disponible en tiempo real con notificaciones en cuanto a fechas de caducidad de productos (siendo puntos críticos en la actualidad ya que lo manejan por medio de papeleo con errores constantes)</a:t>
            </a:r>
            <a:br>
              <a:rPr lang="es-MX" sz="2400"/>
            </a:br>
            <a:endParaRPr/>
          </a:p>
        </p:txBody>
      </p:sp>
      <p:sp>
        <p:nvSpPr>
          <p:cNvPr id="312" name="Google Shape;312;g3b0f82315d9_0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  <p:sp>
        <p:nvSpPr>
          <p:cNvPr id="313" name="Google Shape;313;g3b0f82315d9_0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  <p:cxnSp>
        <p:nvCxnSpPr>
          <p:cNvPr id="314" name="Google Shape;314;g3b0f82315d9_0_13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g3b0f82315d9_0_13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316" name="Google Shape;316;g3b0f82315d9_0_1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12818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317" name="Google Shape;317;g3b0f82315d9_0_13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 rot="10800000">
            <a:off x="-1" y="-45350"/>
            <a:ext cx="5763126" cy="69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b0f82315d9_0_1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b0f82315d9_0_13" descr="Gráfico de respuestas de formularios. Título de la pregunta: ¿Con qué frecuencia experimenta errores o inexactitudes al registrar el inventario de forma manual (papel o Excel)?. Número de respuestas: 11 respuestas." title="¿Con qué frecuencia experimenta errores o inexactitudes al registrar el inventario de forma manual (papel o Excel)?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126" y="499579"/>
            <a:ext cx="3936870" cy="179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b0f82315d9_0_13" descr="Gráfico de respuestas de formularios. Título de la pregunta:   Actualmente, ¿qué método principal utiliza para gestionar el inventario de su negocio?  . Número de respuestas: 11 respuestas." title="  Actualmente, ¿qué método principal utiliza para gestionar el inventario de su negocio?  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125" y="2520981"/>
            <a:ext cx="3936876" cy="16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b0f82315d9_0_13" descr="Gráfico de respuestas de formularios. Título de la pregunta:   ¿Qué tan difícil es conseguir información precisa y en tiempo real de su stock con su método actual?  . Número de respuestas: 11 respuestas." title="  ¿Qué tan difícil es conseguir información precisa y en tiempo real de su stock con su método actual?  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126" y="4425741"/>
            <a:ext cx="3936870" cy="179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7261f6c68_0_3"/>
          <p:cNvSpPr txBox="1">
            <a:spLocks noGrp="1"/>
          </p:cNvSpPr>
          <p:nvPr>
            <p:ph type="ctrTitle"/>
          </p:nvPr>
        </p:nvSpPr>
        <p:spPr>
          <a:xfrm>
            <a:off x="6500987" y="1400638"/>
            <a:ext cx="44349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ANÁLISIS CUANTITATIVO</a:t>
            </a:r>
            <a:endParaRPr sz="4000"/>
          </a:p>
        </p:txBody>
      </p:sp>
      <p:sp>
        <p:nvSpPr>
          <p:cNvPr id="328" name="Google Shape;328;g3a7261f6c68_0_3"/>
          <p:cNvSpPr txBox="1">
            <a:spLocks noGrp="1"/>
          </p:cNvSpPr>
          <p:nvPr>
            <p:ph type="subTitle" idx="1"/>
          </p:nvPr>
        </p:nvSpPr>
        <p:spPr>
          <a:xfrm>
            <a:off x="6500975" y="3196027"/>
            <a:ext cx="4434900" cy="2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Tener un sistema digital automatizado con mayor facilidad de manejo que un excel y evitando papeleo físico.</a:t>
            </a:r>
            <a:endParaRPr/>
          </a:p>
        </p:txBody>
      </p:sp>
      <p:sp>
        <p:nvSpPr>
          <p:cNvPr id="329" name="Google Shape;329;g3a7261f6c68_0_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  <p:sp>
        <p:nvSpPr>
          <p:cNvPr id="330" name="Google Shape;330;g3a7261f6c68_0_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  <p:cxnSp>
        <p:nvCxnSpPr>
          <p:cNvPr id="331" name="Google Shape;331;g3a7261f6c68_0_3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g3a7261f6c68_0_3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333" name="Google Shape;333;g3a7261f6c68_0_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12818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334" name="Google Shape;334;g3a7261f6c68_0_3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>
            <a:off x="0" y="0"/>
            <a:ext cx="5763126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a7261f6c68_0_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a7261f6c68_0_3" descr="Gráfico de respuestas de formularios. Título de la pregunta:   ¿Cuál de los siguientes es el mayor problema que enfrenta actualmente en la gestión de su inventario?  . Número de respuestas: 11 respuestas." title="  ¿Cuál de los siguientes es el mayor problema que enfrenta actualmente en la gestión de su inventario?  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126" y="505056"/>
            <a:ext cx="3936870" cy="179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a7261f6c68_0_3" descr="Gráfico de respuestas de formularios. Título de la pregunta:   La capacidad de registrar el stock con su fecha de caducidad en el sistema es:  . Número de respuestas: 10 respuestas." title="  La capacidad de registrar el stock con su fecha de caducidad en el sistema es:  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125" y="2547228"/>
            <a:ext cx="3936876" cy="166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a7261f6c68_0_3" descr="Gráfico de respuestas de formularios. Título de la pregunta:   Como usuario (según su rol), ¿qué tan importante es que la interfaz de Data Stock sea &quot;amigable&quot; y fácil de usar, no &quot;abrumadora como un Excel&quot;?  . Número de respuestas: 11 respuestas." title="  Como usuario (según su rol), ¿qué tan importante es que la interfaz de Data Stock sea &quot;amigable&quot; y fácil de usar, no &quot;abrumadora como un Excel&quot;?  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126" y="4471098"/>
            <a:ext cx="3936870" cy="179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71603f86a28a26d6_0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 </a:t>
            </a:r>
            <a:endParaRPr sz="4000"/>
          </a:p>
        </p:txBody>
      </p:sp>
      <p:sp>
        <p:nvSpPr>
          <p:cNvPr id="345" name="Google Shape;345;g71603f86a28a26d6_0"/>
          <p:cNvSpPr txBox="1">
            <a:spLocks noGrp="1"/>
          </p:cNvSpPr>
          <p:nvPr>
            <p:ph type="subTitle" idx="1"/>
          </p:nvPr>
        </p:nvSpPr>
        <p:spPr>
          <a:xfrm>
            <a:off x="1524000" y="2359425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Administrador plataforma  (Autoriza registro como “administrador” y elimina usuarios)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Administrador inventario (modifica y registra el inventario con previa autorización).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Distribuidor (Brinda la información del Stock y revisa/visualiza el Stock e inventario).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46" name="Google Shape;346;g71603f86a28a26d6_0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47" name="Google Shape;347;g71603f86a28a26d6_0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g71603f86a28a26d6_0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9" name="Google Shape;349;g71603f86a28a26d6_0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0" name="Google Shape;350;g71603f86a28a26d6_0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71603f86a28a26d6_0"/>
          <p:cNvSpPr txBox="1"/>
          <p:nvPr/>
        </p:nvSpPr>
        <p:spPr>
          <a:xfrm>
            <a:off x="2428650" y="1816250"/>
            <a:ext cx="733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USUARIOS O ACTORES DEL SISTEMA</a:t>
            </a:r>
            <a:endParaRPr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0f82315d9_0_86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58" name="Google Shape;358;g3b0f82315d9_0_86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Como usuario, quiero crear un perfil que me permita editar/ver el inventario o stock en la plataforma DataStock.</a:t>
            </a:r>
            <a:br>
              <a:rPr lang="es-MX"/>
            </a:br>
            <a:br>
              <a:rPr lang="es-MX"/>
            </a:br>
            <a:r>
              <a:rPr lang="es-MX"/>
              <a:t>Criterios de aceptación:</a:t>
            </a:r>
            <a:br>
              <a:rPr lang="es-MX"/>
            </a:br>
            <a:r>
              <a:rPr lang="es-MX"/>
              <a:t>- Validar correo electrónico</a:t>
            </a:r>
            <a:br>
              <a:rPr lang="es-MX"/>
            </a:br>
            <a:r>
              <a:rPr lang="es-MX"/>
              <a:t>- Validar duplicidad</a:t>
            </a:r>
            <a:br>
              <a:rPr lang="es-MX"/>
            </a:br>
            <a:r>
              <a:rPr lang="es-MX"/>
              <a:t>- Asignar rol </a:t>
            </a:r>
            <a:br>
              <a:rPr lang="es-MX"/>
            </a:br>
            <a:r>
              <a:rPr lang="es-MX"/>
              <a:t>- Guardar Usuario en la Base de Datos</a:t>
            </a:r>
            <a:endParaRPr/>
          </a:p>
        </p:txBody>
      </p:sp>
      <p:sp>
        <p:nvSpPr>
          <p:cNvPr id="359" name="Google Shape;359;g3b0f82315d9_0_86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60" name="Google Shape;360;g3b0f82315d9_0_86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g3b0f82315d9_0_86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g3b0f82315d9_0_86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3" name="Google Shape;363;g3b0f82315d9_0_86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b0f82315d9_0_86"/>
          <p:cNvSpPr txBox="1"/>
          <p:nvPr/>
        </p:nvSpPr>
        <p:spPr>
          <a:xfrm>
            <a:off x="3838950" y="1785150"/>
            <a:ext cx="4514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Registro de Usuario</a:t>
            </a:r>
            <a:endParaRPr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0f82315d9_1_1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71" name="Google Shape;371;g3b0f82315d9_1_1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registrado, quiero iniciar sesión con mi correo y datos básicos y/o contraseña de acuerdo al rol para acceder de manera segura e indicada en la plataforma.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Validación de correo electrónico (contraseña si es requerida) en la Base de Datos </a:t>
            </a:r>
            <a:br>
              <a:rPr lang="es-MX"/>
            </a:br>
            <a:r>
              <a:rPr lang="es-MX"/>
              <a:t>- Mostrar rol</a:t>
            </a:r>
            <a:br>
              <a:rPr lang="es-MX"/>
            </a:br>
            <a:r>
              <a:rPr lang="es-MX"/>
              <a:t>- Registrar intentos</a:t>
            </a:r>
            <a:br>
              <a:rPr lang="es-MX"/>
            </a:br>
            <a:r>
              <a:rPr lang="es-MX"/>
              <a:t>- Bloqueo tras 3 intentos</a:t>
            </a:r>
            <a:endParaRPr/>
          </a:p>
        </p:txBody>
      </p:sp>
      <p:sp>
        <p:nvSpPr>
          <p:cNvPr id="372" name="Google Shape;372;g3b0f82315d9_1_1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73" name="Google Shape;373;g3b0f82315d9_1_1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g3b0f82315d9_1_1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5" name="Google Shape;375;g3b0f82315d9_1_1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76" name="Google Shape;376;g3b0f82315d9_1_1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b0f82315d9_1_1"/>
          <p:cNvSpPr txBox="1"/>
          <p:nvPr/>
        </p:nvSpPr>
        <p:spPr>
          <a:xfrm>
            <a:off x="4228350" y="1885350"/>
            <a:ext cx="37353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Autenticación</a:t>
            </a:r>
            <a:endParaRPr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0f82315d9_1_13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84" name="Google Shape;384;g3b0f82315d9_1_13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Inventario),</a:t>
            </a:r>
            <a:br>
              <a:rPr lang="es-MX"/>
            </a:br>
            <a:r>
              <a:rPr lang="es-MX"/>
              <a:t>Quiero registrar las categorías de los productos.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No ingresar categorías existentes</a:t>
            </a:r>
            <a:br>
              <a:rPr lang="es-MX"/>
            </a:br>
            <a:r>
              <a:rPr lang="es-MX"/>
              <a:t>- Ingresar formatos de registro correctos</a:t>
            </a:r>
            <a:endParaRPr/>
          </a:p>
        </p:txBody>
      </p:sp>
      <p:sp>
        <p:nvSpPr>
          <p:cNvPr id="385" name="Google Shape;385;g3b0f82315d9_1_13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86" name="Google Shape;386;g3b0f82315d9_1_13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g3b0f82315d9_1_13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8" name="Google Shape;388;g3b0f82315d9_1_13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89" name="Google Shape;389;g3b0f82315d9_1_13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b0f82315d9_1_13"/>
          <p:cNvSpPr txBox="1"/>
          <p:nvPr/>
        </p:nvSpPr>
        <p:spPr>
          <a:xfrm>
            <a:off x="3838950" y="1785150"/>
            <a:ext cx="4514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Registrar Categoría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0f82315d9_1_25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97" name="Google Shape;397;g3b0f82315d9_1_25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Inventario),</a:t>
            </a:r>
            <a:br>
              <a:rPr lang="es-MX"/>
            </a:br>
            <a:r>
              <a:rPr lang="es-MX"/>
              <a:t>Quiero registrar el nombre, cantidad y fechas de caducidad de los productos.</a:t>
            </a: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No ingresar nombres de productos existentes</a:t>
            </a:r>
            <a:br>
              <a:rPr lang="es-MX"/>
            </a:br>
            <a:r>
              <a:rPr lang="es-MX"/>
              <a:t>- Ingresar fechas de caducidad válidas (no del pasado) </a:t>
            </a:r>
            <a:br>
              <a:rPr lang="es-MX"/>
            </a:br>
            <a:r>
              <a:rPr lang="es-MX"/>
              <a:t>- Ingresar formatos de registro correctos</a:t>
            </a:r>
            <a:br>
              <a:rPr lang="es-MX"/>
            </a:br>
            <a:r>
              <a:rPr lang="es-MX"/>
              <a:t>- Poder notificar errores en la plataforma</a:t>
            </a:r>
            <a:endParaRPr/>
          </a:p>
        </p:txBody>
      </p:sp>
      <p:sp>
        <p:nvSpPr>
          <p:cNvPr id="398" name="Google Shape;398;g3b0f82315d9_1_2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99" name="Google Shape;399;g3b0f82315d9_1_25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g3b0f82315d9_1_25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1" name="Google Shape;401;g3b0f82315d9_1_2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02" name="Google Shape;402;g3b0f82315d9_1_25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b0f82315d9_1_25"/>
          <p:cNvSpPr txBox="1"/>
          <p:nvPr/>
        </p:nvSpPr>
        <p:spPr>
          <a:xfrm>
            <a:off x="3838950" y="1785150"/>
            <a:ext cx="4514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Registrar Productos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0f82315d9_1_37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410" name="Google Shape;410;g3b0f82315d9_1_37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(Todos los roles de la plataforma),</a:t>
            </a:r>
            <a:br>
              <a:rPr lang="es-MX"/>
            </a:br>
            <a:r>
              <a:rPr lang="es-MX"/>
              <a:t>Quiero tener la visualización completa de los productos en el inventario y/o stock.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Calcular la cantidad total de productos en Inventario/Stock</a:t>
            </a:r>
            <a:br>
              <a:rPr lang="es-MX"/>
            </a:br>
            <a:r>
              <a:rPr lang="es-MX"/>
              <a:t>- Mostrar/Desplegar Stock disponible</a:t>
            </a:r>
            <a:br>
              <a:rPr lang="es-MX"/>
            </a:br>
            <a:r>
              <a:rPr lang="es-MX"/>
              <a:t>- Poder notificar errores en la plataforma</a:t>
            </a:r>
            <a:endParaRPr/>
          </a:p>
        </p:txBody>
      </p:sp>
      <p:sp>
        <p:nvSpPr>
          <p:cNvPr id="411" name="Google Shape;411;g3b0f82315d9_1_37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412" name="Google Shape;412;g3b0f82315d9_1_37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" name="Google Shape;413;g3b0f82315d9_1_37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4" name="Google Shape;414;g3b0f82315d9_1_37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15" name="Google Shape;415;g3b0f82315d9_1_37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b0f82315d9_1_37"/>
          <p:cNvSpPr txBox="1"/>
          <p:nvPr/>
        </p:nvSpPr>
        <p:spPr>
          <a:xfrm>
            <a:off x="3527400" y="1785150"/>
            <a:ext cx="51372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Visualizar Productos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0f82315d9_1_49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423" name="Google Shape;423;g3b0f82315d9_1_49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Inventario),</a:t>
            </a:r>
            <a:br>
              <a:rPr lang="es-MX"/>
            </a:br>
            <a:r>
              <a:rPr lang="es-MX"/>
              <a:t>Quiero modificar las categorías/nombres/cantidades/fechas de caducidad existentes en el programa.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Modificar el Stock a la necesidad del rol permitido</a:t>
            </a:r>
            <a:br>
              <a:rPr lang="es-MX"/>
            </a:br>
            <a:r>
              <a:rPr lang="es-MX"/>
              <a:t>- Luego de modificar, mostrar la cantidad de productos en Stock Actualizado</a:t>
            </a:r>
            <a:br>
              <a:rPr lang="es-MX"/>
            </a:br>
            <a:r>
              <a:rPr lang="es-MX"/>
              <a:t>- Poder notificar errores en la plataforma</a:t>
            </a:r>
            <a:endParaRPr/>
          </a:p>
        </p:txBody>
      </p:sp>
      <p:sp>
        <p:nvSpPr>
          <p:cNvPr id="424" name="Google Shape;424;g3b0f82315d9_1_49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425" name="Google Shape;425;g3b0f82315d9_1_49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6" name="Google Shape;426;g3b0f82315d9_1_49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7" name="Google Shape;427;g3b0f82315d9_1_49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28" name="Google Shape;428;g3b0f82315d9_1_49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b0f82315d9_1_49"/>
          <p:cNvSpPr txBox="1"/>
          <p:nvPr/>
        </p:nvSpPr>
        <p:spPr>
          <a:xfrm>
            <a:off x="3233100" y="1785150"/>
            <a:ext cx="57258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Modificación de Productos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0f82315d9_1_61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436" name="Google Shape;436;g3b0f82315d9_1_61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Plataforma),</a:t>
            </a:r>
            <a:br>
              <a:rPr lang="es-MX"/>
            </a:br>
            <a:r>
              <a:rPr lang="es-MX"/>
              <a:t>Quiero recibir notificaciones de los errores enviados por los demás usuarios (roles) de la plataforma.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Modificar el Stock a la necesidad del rol permitido</a:t>
            </a:r>
            <a:br>
              <a:rPr lang="es-MX"/>
            </a:br>
            <a:r>
              <a:rPr lang="es-MX"/>
              <a:t>- Luego de modificar, mostrar la cantidad de productos en Stock Actualizado</a:t>
            </a:r>
            <a:endParaRPr/>
          </a:p>
        </p:txBody>
      </p:sp>
      <p:sp>
        <p:nvSpPr>
          <p:cNvPr id="437" name="Google Shape;437;g3b0f82315d9_1_61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438" name="Google Shape;438;g3b0f82315d9_1_61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9" name="Google Shape;439;g3b0f82315d9_1_61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0" name="Google Shape;440;g3b0f82315d9_1_61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41" name="Google Shape;441;g3b0f82315d9_1_61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b0f82315d9_1_61"/>
          <p:cNvSpPr txBox="1"/>
          <p:nvPr/>
        </p:nvSpPr>
        <p:spPr>
          <a:xfrm>
            <a:off x="3233100" y="1785150"/>
            <a:ext cx="57258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Notificaciones de Error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2748" y="2289417"/>
            <a:ext cx="900350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3105" y="2289417"/>
            <a:ext cx="900350" cy="8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3105" y="3189767"/>
            <a:ext cx="900349" cy="84032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4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rgbClr val="FFFFFF"/>
                </a:solidFill>
              </a:rPr>
              <a:t>22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452" name="Google Shape;452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2748" y="3189769"/>
            <a:ext cx="900350" cy="8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4"/>
          <p:cNvSpPr txBox="1">
            <a:spLocks noGrp="1"/>
          </p:cNvSpPr>
          <p:nvPr>
            <p:ph type="ftr" idx="4294967295"/>
          </p:nvPr>
        </p:nvSpPr>
        <p:spPr>
          <a:xfrm rot="-5400000">
            <a:off x="-462628" y="1591359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4" name="Google Shape;454;p14"/>
          <p:cNvSpPr txBox="1">
            <a:spLocks noGrp="1"/>
          </p:cNvSpPr>
          <p:nvPr>
            <p:ph type="ftr" idx="4294967295"/>
          </p:nvPr>
        </p:nvSpPr>
        <p:spPr>
          <a:xfrm rot="-5400000">
            <a:off x="-462628" y="159424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14"/>
          <p:cNvSpPr txBox="1">
            <a:spLocks noGrp="1"/>
          </p:cNvSpPr>
          <p:nvPr>
            <p:ph type="title" idx="4294967295"/>
          </p:nvPr>
        </p:nvSpPr>
        <p:spPr>
          <a:xfrm>
            <a:off x="3595734" y="2542594"/>
            <a:ext cx="6847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7000" b="1">
                <a:solidFill>
                  <a:schemeClr val="lt1"/>
                </a:solidFill>
              </a:rPr>
              <a:t>¡GRACIAS!</a:t>
            </a:r>
            <a:endParaRPr sz="7000" b="1">
              <a:solidFill>
                <a:schemeClr val="lt1"/>
              </a:solidFill>
            </a:endParaRPr>
          </a:p>
        </p:txBody>
      </p:sp>
      <p:pic>
        <p:nvPicPr>
          <p:cNvPr id="456" name="Google Shape;456;p14"/>
          <p:cNvPicPr preferRelativeResize="0"/>
          <p:nvPr/>
        </p:nvPicPr>
        <p:blipFill rotWithShape="1">
          <a:blip r:embed="rId7">
            <a:alphaModFix/>
          </a:blip>
          <a:srcRect l="11282" r="11805"/>
          <a:stretch/>
        </p:blipFill>
        <p:spPr>
          <a:xfrm>
            <a:off x="2512750" y="2395075"/>
            <a:ext cx="1800700" cy="155631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/>
          <p:cNvSpPr txBox="1"/>
          <p:nvPr/>
        </p:nvSpPr>
        <p:spPr>
          <a:xfrm>
            <a:off x="5941650" y="3580600"/>
            <a:ext cx="241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u="sng">
                <a:solidFill>
                  <a:schemeClr val="l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5595131" y="3853950"/>
            <a:ext cx="305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u="sng">
                <a:solidFill>
                  <a:schemeClr val="lt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PROYECTO E HISTORIAS DE USUARIO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g3ca87e4aa8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2748" y="2289417"/>
            <a:ext cx="900350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ca87e4aa8f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3105" y="2289417"/>
            <a:ext cx="900350" cy="8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ca87e4aa8f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3105" y="3189767"/>
            <a:ext cx="900349" cy="840326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ca87e4aa8f_0_0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rgbClr val="FFFFFF"/>
                </a:solidFill>
              </a:rPr>
              <a:t>23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468" name="Google Shape;468;g3ca87e4aa8f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2748" y="3189769"/>
            <a:ext cx="900350" cy="8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23</Slides>
  <Notes>23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GradientUnivers</vt:lpstr>
      <vt:lpstr>SOFTWARE DE INVENTARIO PARA LA OPTIMIZACIÓN Y CONTROL DE REGISTRO, EN PRODUCTOS DE STOCK DIRIGIDO A PYMES</vt:lpstr>
      <vt:lpstr>Problema que resuelve:</vt:lpstr>
      <vt:lpstr>JUSTIFICACIÓN</vt:lpstr>
      <vt:lpstr>Presentación de PowerPoint</vt:lpstr>
      <vt:lpstr>OBJETIVO GENERAL</vt:lpstr>
      <vt:lpstr>OBJETIVOS ESPECÍFICOS</vt:lpstr>
      <vt:lpstr>ALCANCE</vt:lpstr>
      <vt:lpstr>DIAGRAMA DE PROCESO GENERAL</vt:lpstr>
      <vt:lpstr>DIAGRAMAS DE SUBPROCESO </vt:lpstr>
      <vt:lpstr>DIAGRAMAS DE SUBPROCESO </vt:lpstr>
      <vt:lpstr>DIAGRAMAS DE SUBPROCESO </vt:lpstr>
      <vt:lpstr>ANÁLISIS CUANTITATIVO</vt:lpstr>
      <vt:lpstr>ANÁLISIS CUANTITATIVO</vt:lpstr>
      <vt:lpstr> </vt:lpstr>
      <vt:lpstr>HISTORIAS DE USUARIO</vt:lpstr>
      <vt:lpstr>HISTORIAS DE USUARIO</vt:lpstr>
      <vt:lpstr>HISTORIAS DE USUARIO</vt:lpstr>
      <vt:lpstr>HISTORIAS DE USUARIO</vt:lpstr>
      <vt:lpstr>HISTORIAS DE USUARIO</vt:lpstr>
      <vt:lpstr>HISTORIAS DE USUARIO</vt:lpstr>
      <vt:lpstr>HISTORIAS DE USUARIO</vt:lpstr>
      <vt:lpstr>¡GRACIAS!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Esteban Peraza Pinzon</dc:creator>
  <cp:revision>2</cp:revision>
  <dcterms:created xsi:type="dcterms:W3CDTF">2025-11-18T16:23:07Z</dcterms:created>
  <dcterms:modified xsi:type="dcterms:W3CDTF">2026-02-26T19:37:04Z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